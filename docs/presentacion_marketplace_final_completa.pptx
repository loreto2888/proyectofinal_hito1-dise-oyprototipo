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8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0" r:id="rId15"/>
    <p:sldId id="267" r:id="rId16"/>
    <p:sldId id="272" r:id="rId17"/>
    <p:sldId id="273" r:id="rId18"/>
    <p:sldId id="27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912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EE45E-582F-D69C-FD8E-CE3D29980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8DEE2-CFB8-6944-A7CA-D341BC3CD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14D162-7657-BACB-00AC-40B89EAFA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C08A8-3C6E-B0E6-C516-0BCF8B5980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91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0DBBC-80CF-B467-DF9A-0993859CD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6CCEBA-3A53-C416-7B8F-BBD61F232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B260F-6CC6-034A-5285-12F8DDE4F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8FD5E-862F-B880-C98F-ACF721D2D6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47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F69D6-69B8-780D-3B3B-0254FFB1A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17C79-4D09-28E5-16EA-94E4BB32E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7B6B3-E6E0-61A4-6628-9E8D8C431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0D09D-8EEF-0608-063C-F076380C29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494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DC0C-E97E-37B8-4F02-B2327D579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3A854-3F8A-DABA-134C-8FF8492A5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080BB-831B-B032-4D1C-6411776C7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C1EFF-F86A-EBF3-C724-D595E40C7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048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BC936-7F66-0914-44E7-4283160A0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6EB8C-C3DC-1C81-E742-1AED8B0B3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C9259-D8B6-1A80-07B3-76BF44C53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68AF3-3624-3B96-7E5B-B4C645F2C7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766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E23A6-56CA-3E3D-C117-6C798A397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A0AB4-3D33-EA99-6945-815D84291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5DA24-86AA-57F9-6517-E46162BB5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Hito 1 - Diseño y prototipo.pdf (requerimientos del Hito 1, pantallas mínimas, navegación pública/privada, dependencias, tablas y API).
- User-provided file: Programa Académico - Proyecto final.pdf (Hito 1: Diseño y prototipo).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DCA2D-2ACC-F22E-4D6D-C0AE8E5F3A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05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A34B"/>
          </a:solidFill>
          <a:ln w="12700">
            <a:solidFill>
              <a:srgbClr val="7AA34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320040" y="6473952"/>
            <a:ext cx="11521440" cy="18288"/>
          </a:xfrm>
          <a:prstGeom prst="rect">
            <a:avLst/>
          </a:prstGeom>
          <a:solidFill>
            <a:srgbClr val="D0D7C9"/>
          </a:solidFill>
          <a:ln w="12700">
            <a:solidFill>
              <a:srgbClr val="D0D7C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7E64"/>
                </a:solidFill>
              </a:rPr>
              <a:t>Marketplace · Hito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960120"/>
            <a:ext cx="9830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A34B"/>
                </a:solidFill>
              </a:rPr>
              <a:t>Proyecto Final Desarrollo Full stack- 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7AA34B"/>
                </a:solidFill>
              </a:rPr>
              <a:t>Marketplace · Hito 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3030967" y="2024231"/>
            <a:ext cx="4572000" cy="914400"/>
          </a:xfrm>
          <a:prstGeom prst="rect">
            <a:avLst/>
          </a:prstGeom>
          <a:solidFill>
            <a:srgbClr val="EEF3E7"/>
          </a:solidFill>
          <a:ln w="15240">
            <a:solidFill>
              <a:srgbClr val="7AA34B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</a:rPr>
              <a:t>Proyecto: Marketplace / Tienda online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31520" y="4688540"/>
            <a:ext cx="10321962" cy="12729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63238"/>
                </a:solidFill>
              </a:rPr>
              <a:t>Integrantes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Manuel Ordaz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</a:rPr>
              <a:t>Johanna Barrientos</a:t>
            </a:r>
          </a:p>
          <a:p>
            <a:pPr marL="0" indent="0">
              <a:buNone/>
            </a:pPr>
            <a:endParaRPr lang="en-US" sz="1200" b="1" dirty="0">
              <a:solidFill>
                <a:srgbClr val="263238"/>
              </a:solidFill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63238"/>
                </a:solidFill>
              </a:rPr>
              <a:t>Año 2026 Marzo 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E037A-A7EC-DC51-55AC-ED38D5E3C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FAF0A8E-7E24-0408-E4AA-73B1569C2D0D}"/>
              </a:ext>
            </a:extLst>
          </p:cNvPr>
          <p:cNvSpPr/>
          <p:nvPr/>
        </p:nvSpPr>
        <p:spPr>
          <a:xfrm>
            <a:off x="640080" y="96012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A34B"/>
                </a:solidFill>
              </a:rPr>
              <a:t>Marketplace · Hito 1</a:t>
            </a:r>
            <a:endParaRPr lang="en-US" sz="3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4B10196-B5C5-2778-0279-934192EF0472}"/>
              </a:ext>
            </a:extLst>
          </p:cNvPr>
          <p:cNvSpPr/>
          <p:nvPr/>
        </p:nvSpPr>
        <p:spPr>
          <a:xfrm>
            <a:off x="640080" y="1481328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</a:rPr>
              <a:t>Presentación lista para entregar</a:t>
            </a:r>
            <a:endParaRPr lang="en-US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E629DE8-8E0F-4D45-E207-C8D9A9431C3C}"/>
              </a:ext>
            </a:extLst>
          </p:cNvPr>
          <p:cNvSpPr/>
          <p:nvPr/>
        </p:nvSpPr>
        <p:spPr>
          <a:xfrm>
            <a:off x="640080" y="187452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F6B73"/>
                </a:solidFill>
              </a:rPr>
              <a:t>Incluye mockups completos, navegación pública/privada, dependencias, contrato de API REST y diagrama ER.</a:t>
            </a:r>
            <a:endParaRPr lang="en-US" sz="17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C38F8F3-0431-5593-1F33-140CE1A4A76D}"/>
              </a:ext>
            </a:extLst>
          </p:cNvPr>
          <p:cNvSpPr/>
          <p:nvPr/>
        </p:nvSpPr>
        <p:spPr>
          <a:xfrm>
            <a:off x="6903720" y="1097280"/>
            <a:ext cx="4572000" cy="914400"/>
          </a:xfrm>
          <a:prstGeom prst="rect">
            <a:avLst/>
          </a:prstGeom>
          <a:solidFill>
            <a:srgbClr val="EEF3E7"/>
          </a:solidFill>
          <a:ln w="15240">
            <a:solidFill>
              <a:srgbClr val="7AA34B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</a:rPr>
              <a:t>Proyecto: Marketplace / Tienda online</a:t>
            </a:r>
            <a:endParaRPr lang="en-US" sz="2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E281A41-FC35-25A0-837A-B5BAA8DBED16}"/>
              </a:ext>
            </a:extLst>
          </p:cNvPr>
          <p:cNvSpPr/>
          <p:nvPr/>
        </p:nvSpPr>
        <p:spPr>
          <a:xfrm>
            <a:off x="6903720" y="2240280"/>
            <a:ext cx="457200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Entregables del Hito 1</a:t>
            </a:r>
            <a:endParaRPr lang="en-US" sz="1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7350D62-D935-9007-A4D0-188DD1143921}"/>
              </a:ext>
            </a:extLst>
          </p:cNvPr>
          <p:cNvSpPr/>
          <p:nvPr/>
        </p:nvSpPr>
        <p:spPr>
          <a:xfrm>
            <a:off x="7178040" y="28529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1. Mockups de 7 vistas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489A95B-0FC3-00D3-7836-807BEBFC11B1}"/>
              </a:ext>
            </a:extLst>
          </p:cNvPr>
          <p:cNvSpPr/>
          <p:nvPr/>
        </p:nvSpPr>
        <p:spPr>
          <a:xfrm>
            <a:off x="7178040" y="32004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2. Navegación entre vistas</a:t>
            </a:r>
            <a:endParaRPr lang="en-US" sz="1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62A90F1-0EFA-7605-ADCF-C43722508CE7}"/>
              </a:ext>
            </a:extLst>
          </p:cNvPr>
          <p:cNvSpPr/>
          <p:nvPr/>
        </p:nvSpPr>
        <p:spPr>
          <a:xfrm>
            <a:off x="7178040" y="354787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3. Dependencias del proyecto</a:t>
            </a:r>
            <a:endParaRPr lang="en-US" sz="1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E648E2B-9A22-73AF-2DB9-77A106EAB4CA}"/>
              </a:ext>
            </a:extLst>
          </p:cNvPr>
          <p:cNvSpPr/>
          <p:nvPr/>
        </p:nvSpPr>
        <p:spPr>
          <a:xfrm>
            <a:off x="7178040" y="38953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4. Contrato de API REST</a:t>
            </a:r>
            <a:endParaRPr lang="en-US" sz="14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2A6BD7C-9797-ADE1-8A0F-EA1B2D6503D3}"/>
              </a:ext>
            </a:extLst>
          </p:cNvPr>
          <p:cNvSpPr/>
          <p:nvPr/>
        </p:nvSpPr>
        <p:spPr>
          <a:xfrm>
            <a:off x="7178040" y="424281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</a:rPr>
              <a:t>• 5. Diagrama de tablas y relaciones</a:t>
            </a:r>
            <a:endParaRPr lang="en-US" sz="14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567F775-33FA-C7FE-1BD1-E37B8C68134E}"/>
              </a:ext>
            </a:extLst>
          </p:cNvPr>
          <p:cNvSpPr/>
          <p:nvPr/>
        </p:nvSpPr>
        <p:spPr>
          <a:xfrm>
            <a:off x="731520" y="3794760"/>
            <a:ext cx="539496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63238"/>
                </a:solidFill>
              </a:rPr>
              <a:t>PÚBLICO</a:t>
            </a:r>
            <a:endParaRPr lang="en-US" sz="2100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263238"/>
                </a:solidFill>
              </a:rPr>
              <a:t>Página principal · Registro · Inicio de sesión</a:t>
            </a:r>
            <a:endParaRPr lang="en-US" sz="21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668072C-2DF4-0E55-B5B3-FF81BA9B57B7}"/>
              </a:ext>
            </a:extLst>
          </p:cNvPr>
          <p:cNvSpPr/>
          <p:nvPr/>
        </p:nvSpPr>
        <p:spPr>
          <a:xfrm>
            <a:off x="6400800" y="4754880"/>
            <a:ext cx="502920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PRIVADO · Mi perfil · Crear publicación · Galería · Detalle</a:t>
            </a:r>
            <a:endParaRPr lang="en-US" sz="18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9865EAF-0A07-B9F4-6AD7-DF8BDADCB1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98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9992A-C490-A601-5994-D21063D49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33ACF02-DCD7-B778-F34F-80505D9D3EEA}"/>
              </a:ext>
            </a:extLst>
          </p:cNvPr>
          <p:cNvSpPr/>
          <p:nvPr/>
        </p:nvSpPr>
        <p:spPr>
          <a:xfrm>
            <a:off x="3634292" y="42976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A34B"/>
                </a:solidFill>
              </a:rPr>
              <a:t>Marketplace · Hito 1</a:t>
            </a:r>
            <a:endParaRPr lang="en-US" sz="3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7AF24BF-D25F-C229-5FBF-C94D6E412734}"/>
              </a:ext>
            </a:extLst>
          </p:cNvPr>
          <p:cNvSpPr/>
          <p:nvPr/>
        </p:nvSpPr>
        <p:spPr>
          <a:xfrm>
            <a:off x="3533887" y="814899"/>
            <a:ext cx="4572000" cy="914400"/>
          </a:xfrm>
          <a:prstGeom prst="rect">
            <a:avLst/>
          </a:prstGeom>
          <a:solidFill>
            <a:srgbClr val="EEF3E7"/>
          </a:solidFill>
          <a:ln w="15240">
            <a:solidFill>
              <a:srgbClr val="7AA34B"/>
            </a:solidFill>
          </a:ln>
        </p:spPr>
        <p:txBody>
          <a:bodyPr wrap="square" lIns="1270" tIns="1270" rIns="1270" bIns="1270" rtlCol="0" anchor="ctr"/>
          <a:lstStyle/>
          <a:p>
            <a:pPr algn="ctr"/>
            <a:r>
              <a:rPr lang="es-CL" sz="2000" dirty="0"/>
              <a:t>Navegación entre vistas</a:t>
            </a:r>
            <a:endParaRPr lang="en-US" sz="2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3575F96-D107-8757-471D-B1FDE306DAED}"/>
              </a:ext>
            </a:extLst>
          </p:cNvPr>
          <p:cNvSpPr/>
          <p:nvPr/>
        </p:nvSpPr>
        <p:spPr>
          <a:xfrm>
            <a:off x="662939" y="2098631"/>
            <a:ext cx="4572000" cy="201616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algn="ctr"/>
            <a:r>
              <a:rPr lang="es-CL" sz="1400" dirty="0"/>
              <a:t>SECCIÓN PÚBLICA</a:t>
            </a:r>
          </a:p>
          <a:p>
            <a:r>
              <a:rPr lang="es-MX" sz="1400" dirty="0"/>
              <a:t>Estas vistas pueden ser accedidas sin iniciar sesión.</a:t>
            </a:r>
            <a:br>
              <a:rPr lang="es-MX" sz="1400" dirty="0"/>
            </a:br>
            <a:br>
              <a:rPr lang="es-MX" sz="1400" dirty="0"/>
            </a:br>
            <a:r>
              <a:rPr lang="es-MX" sz="1400" dirty="0"/>
              <a:t>• Página principal</a:t>
            </a:r>
            <a:br>
              <a:rPr lang="es-MX" sz="1400" dirty="0"/>
            </a:br>
            <a:r>
              <a:rPr lang="es-MX" sz="1400" dirty="0"/>
              <a:t>• Registro de usuarios</a:t>
            </a:r>
            <a:br>
              <a:rPr lang="es-MX" sz="1400" dirty="0"/>
            </a:br>
            <a:r>
              <a:rPr lang="es-MX" sz="1400" dirty="0"/>
              <a:t>• Inicio de sesión</a:t>
            </a:r>
            <a:br>
              <a:rPr lang="es-MX" sz="1400" dirty="0"/>
            </a:br>
            <a:r>
              <a:rPr lang="es-MX" sz="1400" dirty="0"/>
              <a:t>• Galería de publicaciones</a:t>
            </a:r>
            <a:br>
              <a:rPr lang="es-MX" sz="1400" dirty="0"/>
            </a:br>
            <a:r>
              <a:rPr lang="es-MX" sz="1400" dirty="0"/>
              <a:t>• Detalle de publicación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46F2657-F5A1-7B2C-B981-2089C8564A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D301A8D-FD02-AAE9-BA14-11C588512AE7}"/>
              </a:ext>
            </a:extLst>
          </p:cNvPr>
          <p:cNvSpPr txBox="1"/>
          <p:nvPr/>
        </p:nvSpPr>
        <p:spPr>
          <a:xfrm>
            <a:off x="3045759" y="1729299"/>
            <a:ext cx="6100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El sistema se divide en dos grupos de vistas:</a:t>
            </a:r>
            <a:endParaRPr lang="es-CL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075B37C-1877-363C-6E2A-5E734CB7095D}"/>
              </a:ext>
            </a:extLst>
          </p:cNvPr>
          <p:cNvSpPr/>
          <p:nvPr/>
        </p:nvSpPr>
        <p:spPr>
          <a:xfrm>
            <a:off x="6286052" y="2098631"/>
            <a:ext cx="4572000" cy="201616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algn="ctr"/>
            <a:r>
              <a:rPr lang="es-CL" sz="1400" dirty="0"/>
              <a:t>SECCIÓN PRIVADA</a:t>
            </a:r>
          </a:p>
          <a:p>
            <a:r>
              <a:rPr lang="es-MX" sz="1400" dirty="0"/>
              <a:t>Estas vistas requieren que el usuario haya iniciado sesión.</a:t>
            </a:r>
            <a:br>
              <a:rPr lang="es-MX" sz="1400" dirty="0"/>
            </a:br>
            <a:br>
              <a:rPr lang="es-MX" sz="1400" dirty="0"/>
            </a:br>
            <a:r>
              <a:rPr lang="es-MX" sz="1400" dirty="0"/>
              <a:t>• Mi perfil</a:t>
            </a:r>
            <a:br>
              <a:rPr lang="es-MX" sz="1400" dirty="0"/>
            </a:br>
            <a:r>
              <a:rPr lang="es-MX" sz="1400" dirty="0"/>
              <a:t>• Crear publicación</a:t>
            </a:r>
            <a:br>
              <a:rPr lang="es-MX" sz="1400" dirty="0"/>
            </a:br>
            <a:r>
              <a:rPr lang="es-MX" sz="1400" dirty="0"/>
              <a:t>• Mis publicaciones</a:t>
            </a:r>
            <a:br>
              <a:rPr lang="es-MX" sz="1400" dirty="0"/>
            </a:br>
            <a:r>
              <a:rPr lang="es-MX" sz="1400" dirty="0"/>
              <a:t>• Mis favoritos</a:t>
            </a:r>
            <a:endParaRPr lang="en-US" sz="14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BE776A9-16E3-4B0D-9508-948132DD7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86" y="4361485"/>
            <a:ext cx="2331922" cy="157747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F3303F7F-C649-FAA3-BFF5-A515410C4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570" y="4506544"/>
            <a:ext cx="2400508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429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30352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</a:rPr>
              <a:t>1. Página principal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950976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3"/>
                </a:solidFill>
              </a:rPr>
              <a:t>Vista pública con header, hero, categorías y tarjetas de publicaciones.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109728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7AA34B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HEADER · Logo | Tienda | Registrarse | Iniciar sesión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1965960"/>
            <a:ext cx="10424160" cy="1234440"/>
          </a:xfrm>
          <a:prstGeom prst="rect">
            <a:avLst/>
          </a:prstGeom>
          <a:solidFill>
            <a:srgbClr val="EEF3E7"/>
          </a:solidFill>
          <a:ln w="15240">
            <a:solidFill>
              <a:srgbClr val="7AA34B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3238"/>
                </a:solidFill>
              </a:rPr>
              <a:t>HERO · Título + descripción + botón “Ver publicaciones”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263238"/>
                </a:solidFill>
              </a:rPr>
              <a:t>Imagen sugerida: hero_banner.jpg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3429000"/>
            <a:ext cx="2011680" cy="384048"/>
          </a:xfrm>
          <a:prstGeom prst="rect">
            <a:avLst/>
          </a:prstGeom>
          <a:solidFill>
            <a:srgbClr val="E9F0DE"/>
          </a:solidFill>
          <a:ln w="13970">
            <a:solidFill>
              <a:srgbClr val="7AA34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</a:rPr>
              <a:t>Tecnología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154680" y="3429000"/>
            <a:ext cx="2011680" cy="384048"/>
          </a:xfrm>
          <a:prstGeom prst="rect">
            <a:avLst/>
          </a:prstGeom>
          <a:solidFill>
            <a:srgbClr val="E9F0DE"/>
          </a:solidFill>
          <a:ln w="13970">
            <a:solidFill>
              <a:srgbClr val="7AA34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</a:rPr>
              <a:t>Hogar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94960" y="3429000"/>
            <a:ext cx="2011680" cy="384048"/>
          </a:xfrm>
          <a:prstGeom prst="rect">
            <a:avLst/>
          </a:prstGeom>
          <a:solidFill>
            <a:srgbClr val="E9F0DE"/>
          </a:solidFill>
          <a:ln w="13970">
            <a:solidFill>
              <a:srgbClr val="7AA34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</a:rPr>
              <a:t>Vehículos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35240" y="3429000"/>
            <a:ext cx="2011680" cy="384048"/>
          </a:xfrm>
          <a:prstGeom prst="rect">
            <a:avLst/>
          </a:prstGeom>
          <a:solidFill>
            <a:srgbClr val="E9F0DE"/>
          </a:solidFill>
          <a:ln w="13970">
            <a:solidFill>
              <a:srgbClr val="7AA34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</a:rPr>
              <a:t>Moda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3977640"/>
            <a:ext cx="22860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1051560" y="4087368"/>
            <a:ext cx="2011680" cy="73152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1D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Imagen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producto1.jpg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51560" y="49103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Título del producto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516636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</a:rPr>
              <a:t>$ 19.990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5458968"/>
            <a:ext cx="2011680" cy="292608"/>
          </a:xfrm>
          <a:prstGeom prst="rect">
            <a:avLst/>
          </a:prstGeom>
          <a:solidFill>
            <a:srgbClr val="E9F0DE"/>
          </a:solidFill>
          <a:ln w="12700">
            <a:solidFill>
              <a:srgbClr val="7AA34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238"/>
                </a:solidFill>
              </a:rPr>
              <a:t>Botón · Ver detalle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11880" y="3977640"/>
            <a:ext cx="22860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3749040" y="4087368"/>
            <a:ext cx="2011680" cy="73152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1D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Imagen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producto2.jpg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749040" y="49103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Título del producto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749040" y="516636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</a:rPr>
              <a:t>$ 19.990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749040" y="5458968"/>
            <a:ext cx="2011680" cy="292608"/>
          </a:xfrm>
          <a:prstGeom prst="rect">
            <a:avLst/>
          </a:prstGeom>
          <a:solidFill>
            <a:srgbClr val="E9F0DE"/>
          </a:solidFill>
          <a:ln w="12700">
            <a:solidFill>
              <a:srgbClr val="7AA34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238"/>
                </a:solidFill>
              </a:rPr>
              <a:t>Botón · Ver detalle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309360" y="3977640"/>
            <a:ext cx="22860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6446520" y="4087368"/>
            <a:ext cx="2011680" cy="73152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1D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Imagen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producto3.jpg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446520" y="49103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Título del producto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46520" y="516636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</a:rPr>
              <a:t>$ 19.990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46520" y="5458968"/>
            <a:ext cx="2011680" cy="292608"/>
          </a:xfrm>
          <a:prstGeom prst="rect">
            <a:avLst/>
          </a:prstGeom>
          <a:solidFill>
            <a:srgbClr val="E9F0DE"/>
          </a:solidFill>
          <a:ln w="12700">
            <a:solidFill>
              <a:srgbClr val="7AA34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238"/>
                </a:solidFill>
              </a:rPr>
              <a:t>Botón · Ver detalle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006840" y="3977640"/>
            <a:ext cx="22860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9144000" y="4087368"/>
            <a:ext cx="2011680" cy="73152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1D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Imagen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producto4.jpg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144000" y="49103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Título del producto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44000" y="516636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</a:rPr>
              <a:t>$ 19.990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144000" y="5458968"/>
            <a:ext cx="2011680" cy="292608"/>
          </a:xfrm>
          <a:prstGeom prst="rect">
            <a:avLst/>
          </a:prstGeom>
          <a:solidFill>
            <a:srgbClr val="E9F0DE"/>
          </a:solidFill>
          <a:ln w="12700">
            <a:solidFill>
              <a:srgbClr val="7AA34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238"/>
                </a:solidFill>
              </a:rPr>
              <a:t>Botón · Ver detalle</a:t>
            </a:r>
            <a:endParaRPr lang="en-US" sz="12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30352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</a:rPr>
              <a:t>2. Registro de usuarios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950976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3"/>
                </a:solidFill>
              </a:rPr>
              <a:t>Vista pública para crear una cuenta nueva.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566160" y="1417320"/>
            <a:ext cx="502920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40480" y="16459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</a:rPr>
              <a:t>Formulario de registro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931920" y="214884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Nombre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31920" y="2368296"/>
            <a:ext cx="4297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3"/>
                </a:solidFill>
              </a:rPr>
              <a:t>[ campo ]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31920" y="278892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Email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31920" y="3008376"/>
            <a:ext cx="4297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3"/>
                </a:solidFill>
              </a:rPr>
              <a:t>[ campo ]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31920" y="342900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Contraseña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931920" y="3648456"/>
            <a:ext cx="4297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3"/>
                </a:solidFill>
              </a:rPr>
              <a:t>[ campo ]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931920" y="40690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Confirmar contraseña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931920" y="4288536"/>
            <a:ext cx="4297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3"/>
                </a:solidFill>
              </a:rPr>
              <a:t>[ campo ]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0" y="4846320"/>
            <a:ext cx="3017520" cy="420624"/>
          </a:xfrm>
          <a:prstGeom prst="rect">
            <a:avLst/>
          </a:prstGeom>
          <a:solidFill>
            <a:srgbClr val="E9F0DE"/>
          </a:solidFill>
          <a:ln w="15240">
            <a:solidFill>
              <a:srgbClr val="7AA34B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238"/>
                </a:solidFill>
              </a:rPr>
              <a:t>Botón · Crear cuenta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794760" y="5440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B73"/>
                </a:solidFill>
              </a:rPr>
              <a:t>Texto inferior · ¿Ya tienes cuenta? Inicia sesión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30352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</a:rPr>
              <a:t>3. Inicio de sesión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950976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3"/>
                </a:solidFill>
              </a:rPr>
              <a:t>Vista pública para autenticación de usuarios.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0" y="1691640"/>
            <a:ext cx="48463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86200" y="193852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</a:rPr>
              <a:t>Formulario de login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977640" y="256032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Email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77640" y="2779776"/>
            <a:ext cx="4297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3"/>
                </a:solidFill>
              </a:rPr>
              <a:t>[ campo ]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324612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Contraseña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77640" y="3465576"/>
            <a:ext cx="4297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3"/>
                </a:solidFill>
              </a:rPr>
              <a:t>[ campo ]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63440" y="4069080"/>
            <a:ext cx="2834640" cy="438912"/>
          </a:xfrm>
          <a:prstGeom prst="rect">
            <a:avLst/>
          </a:prstGeom>
          <a:solidFill>
            <a:srgbClr val="E9F0DE"/>
          </a:solidFill>
          <a:ln w="15240">
            <a:solidFill>
              <a:srgbClr val="7AA34B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238"/>
                </a:solidFill>
              </a:rPr>
              <a:t>Botón · Iniciar sesión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886200" y="47091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B73"/>
                </a:solidFill>
              </a:rPr>
              <a:t>Texto inferior · ¿No tienes cuenta? Regístrate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30352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</a:rPr>
              <a:t>4. Mi perfil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950976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3"/>
                </a:solidFill>
              </a:rPr>
              <a:t>Vista privada con datos del usuario, publicaciones y favoritos.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22960" y="1417320"/>
            <a:ext cx="10607040" cy="841248"/>
          </a:xfrm>
          <a:prstGeom prst="rect">
            <a:avLst/>
          </a:prstGeom>
          <a:solidFill>
            <a:srgbClr val="EEF3E7"/>
          </a:solidFill>
          <a:ln w="15240">
            <a:solidFill>
              <a:srgbClr val="7AA34B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</a:rPr>
              <a:t>Datos del usuario · foto_perfil.jpg | Nombre | Email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2606040"/>
            <a:ext cx="5029200" cy="315468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51560" y="28163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</a:rPr>
              <a:t>Mis publicaciones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3246120"/>
            <a:ext cx="4297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B73"/>
                </a:solidFill>
              </a:rPr>
              <a:t>• Publicación 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F6B73"/>
                </a:solidFill>
              </a:rPr>
              <a:t>  Botones: Editar / Eliminar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F6B73"/>
                </a:solidFill>
              </a:rPr>
              <a:t>• Publicación 2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F6B73"/>
                </a:solidFill>
              </a:rPr>
              <a:t>  Botones: Editar / Eliminar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63640" y="2606040"/>
            <a:ext cx="5166360" cy="315468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92240" y="28163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</a:rPr>
              <a:t>Mis favoritos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92240" y="3246120"/>
            <a:ext cx="210312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6629400" y="3355848"/>
            <a:ext cx="1828800" cy="73152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1D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Imagen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favorito1.jpg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29400" y="41788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Título del producto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29400" y="44348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</a:rPr>
              <a:t>$ 19.990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629400" y="4727448"/>
            <a:ext cx="1828800" cy="292608"/>
          </a:xfrm>
          <a:prstGeom prst="rect">
            <a:avLst/>
          </a:prstGeom>
          <a:solidFill>
            <a:srgbClr val="E9F0DE"/>
          </a:solidFill>
          <a:ln w="12700">
            <a:solidFill>
              <a:srgbClr val="7AA34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238"/>
                </a:solidFill>
              </a:rPr>
              <a:t>Botón · Ver detalle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961120" y="3246120"/>
            <a:ext cx="210312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9098280" y="3355848"/>
            <a:ext cx="1828800" cy="73152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1D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Imagen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favorito2.jpg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098280" y="41788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Título del producto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098280" y="44348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</a:rPr>
              <a:t>$ 19.990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098280" y="4727448"/>
            <a:ext cx="1828800" cy="292608"/>
          </a:xfrm>
          <a:prstGeom prst="rect">
            <a:avLst/>
          </a:prstGeom>
          <a:solidFill>
            <a:srgbClr val="E9F0DE"/>
          </a:solidFill>
          <a:ln w="12700">
            <a:solidFill>
              <a:srgbClr val="7AA34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238"/>
                </a:solidFill>
              </a:rPr>
              <a:t>Botón · Ver detalle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30352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</a:rPr>
              <a:t>5. Crear publicación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950976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3"/>
                </a:solidFill>
              </a:rPr>
              <a:t>Vista privada para publicar un producto nuevo.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057400" y="1463040"/>
            <a:ext cx="8046720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331720" y="1719072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63238"/>
                </a:solidFill>
              </a:rPr>
              <a:t>Formulario de publicación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514600" y="214884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Título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514600" y="2368296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3"/>
                </a:solidFill>
              </a:rPr>
              <a:t>[ campo ]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514600" y="28620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Descripción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514600" y="3081528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3"/>
                </a:solidFill>
              </a:rPr>
              <a:t>[ campo ]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514600" y="357530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Precio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514600" y="3794760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3"/>
                </a:solidFill>
              </a:rPr>
              <a:t>[ campo ]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514600" y="428853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Categoría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514600" y="4507992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3"/>
                </a:solidFill>
              </a:rPr>
              <a:t>[ campo ]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63640" y="214884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Estado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63640" y="2368296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3"/>
                </a:solidFill>
              </a:rPr>
              <a:t>[ campo ]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63640" y="28620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Ubicación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63640" y="3081528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3"/>
                </a:solidFill>
              </a:rPr>
              <a:t>[ campo ]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63640" y="357530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Imágenes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3794760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3"/>
                </a:solidFill>
              </a:rPr>
              <a:t>[ campo ]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63640" y="428853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</a:rPr>
              <a:t>Contacto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63640" y="4507992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3"/>
                </a:solidFill>
              </a:rPr>
              <a:t>[ campo ]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749040" y="5257800"/>
            <a:ext cx="1737360" cy="420624"/>
          </a:xfrm>
          <a:prstGeom prst="rect">
            <a:avLst/>
          </a:prstGeom>
          <a:solidFill>
            <a:srgbClr val="E9F0DE"/>
          </a:solidFill>
          <a:ln w="15240">
            <a:solidFill>
              <a:srgbClr val="7AA34B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238"/>
                </a:solidFill>
              </a:rPr>
              <a:t>Publicar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760720" y="5257800"/>
            <a:ext cx="1737360" cy="4206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238"/>
                </a:solidFill>
              </a:rPr>
              <a:t>Cancelar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30352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</a:rPr>
              <a:t>6. Galería de publicaciones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950976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3"/>
                </a:solidFill>
              </a:rPr>
              <a:t>Vista privada con filtros y cuadrícula de productos.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22960" y="1325880"/>
            <a:ext cx="1060704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7AA34B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Barra de filtros · Buscador + Categoría + Precio + Ubicación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60120" y="2194560"/>
            <a:ext cx="24231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1097280" y="2304288"/>
            <a:ext cx="2148840" cy="73152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1D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Imagen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galeria1.jpg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312724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Título del producto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3383280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</a:rPr>
              <a:t>$ 19.990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3675888"/>
            <a:ext cx="2148840" cy="292608"/>
          </a:xfrm>
          <a:prstGeom prst="rect">
            <a:avLst/>
          </a:prstGeom>
          <a:solidFill>
            <a:srgbClr val="E9F0DE"/>
          </a:solidFill>
          <a:ln w="12700">
            <a:solidFill>
              <a:srgbClr val="7AA34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238"/>
                </a:solidFill>
              </a:rPr>
              <a:t>Botón · Ver detalle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11880" y="2194560"/>
            <a:ext cx="24231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3749040" y="2304288"/>
            <a:ext cx="2148840" cy="73152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1D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Imagen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galeria2.jpg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749040" y="312724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Título del producto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749040" y="3383280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</a:rPr>
              <a:t>$ 19.990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749040" y="3675888"/>
            <a:ext cx="2148840" cy="292608"/>
          </a:xfrm>
          <a:prstGeom prst="rect">
            <a:avLst/>
          </a:prstGeom>
          <a:solidFill>
            <a:srgbClr val="E9F0DE"/>
          </a:solidFill>
          <a:ln w="12700">
            <a:solidFill>
              <a:srgbClr val="7AA34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238"/>
                </a:solidFill>
              </a:rPr>
              <a:t>Botón · Ver detalle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63640" y="2194560"/>
            <a:ext cx="24231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6400800" y="2304288"/>
            <a:ext cx="2148840" cy="73152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1D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Imagen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galeria3.jpg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0" y="312724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Título del producto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0" y="3383280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</a:rPr>
              <a:t>$ 19.990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3675888"/>
            <a:ext cx="2148840" cy="292608"/>
          </a:xfrm>
          <a:prstGeom prst="rect">
            <a:avLst/>
          </a:prstGeom>
          <a:solidFill>
            <a:srgbClr val="E9F0DE"/>
          </a:solidFill>
          <a:ln w="12700">
            <a:solidFill>
              <a:srgbClr val="7AA34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238"/>
                </a:solidFill>
              </a:rPr>
              <a:t>Botón · Ver detalle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915400" y="2194560"/>
            <a:ext cx="24231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9052560" y="2304288"/>
            <a:ext cx="2148840" cy="73152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1D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Imagen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galeria4.jpg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052560" y="312724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Título del producto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052560" y="3383280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</a:rPr>
              <a:t>$ 19.990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052560" y="3675888"/>
            <a:ext cx="2148840" cy="292608"/>
          </a:xfrm>
          <a:prstGeom prst="rect">
            <a:avLst/>
          </a:prstGeom>
          <a:solidFill>
            <a:srgbClr val="E9F0DE"/>
          </a:solidFill>
          <a:ln w="12700">
            <a:solidFill>
              <a:srgbClr val="7AA34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238"/>
                </a:solidFill>
              </a:rPr>
              <a:t>Botón · Ver detalle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60120" y="4343400"/>
            <a:ext cx="24231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1097280" y="4453128"/>
            <a:ext cx="2148840" cy="73152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1D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Imagen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galeria5.jpg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097280" y="527608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Título del producto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97280" y="5532120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</a:rPr>
              <a:t>$ 19.990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097280" y="5824728"/>
            <a:ext cx="2148840" cy="292608"/>
          </a:xfrm>
          <a:prstGeom prst="rect">
            <a:avLst/>
          </a:prstGeom>
          <a:solidFill>
            <a:srgbClr val="E9F0DE"/>
          </a:solidFill>
          <a:ln w="12700">
            <a:solidFill>
              <a:srgbClr val="7AA34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238"/>
                </a:solidFill>
              </a:rPr>
              <a:t>Botón · Ver detalle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611880" y="4343400"/>
            <a:ext cx="24231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3749040" y="4453128"/>
            <a:ext cx="2148840" cy="73152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1D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Imagen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galeria6.jpg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3749040" y="527608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Título del producto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3749040" y="5532120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</a:rPr>
              <a:t>$ 19.990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749040" y="5824728"/>
            <a:ext cx="2148840" cy="292608"/>
          </a:xfrm>
          <a:prstGeom prst="rect">
            <a:avLst/>
          </a:prstGeom>
          <a:solidFill>
            <a:srgbClr val="E9F0DE"/>
          </a:solidFill>
          <a:ln w="12700">
            <a:solidFill>
              <a:srgbClr val="7AA34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238"/>
                </a:solidFill>
              </a:rPr>
              <a:t>Botón · Ver detalle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263640" y="4343400"/>
            <a:ext cx="24231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4"/>
          <p:cNvSpPr/>
          <p:nvPr/>
        </p:nvSpPr>
        <p:spPr>
          <a:xfrm>
            <a:off x="6400800" y="4453128"/>
            <a:ext cx="2148840" cy="73152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1D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Imagen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galeria7.jpg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400800" y="527608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Título del producto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400800" y="5532120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</a:rPr>
              <a:t>$ 19.990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0" y="5824728"/>
            <a:ext cx="2148840" cy="292608"/>
          </a:xfrm>
          <a:prstGeom prst="rect">
            <a:avLst/>
          </a:prstGeom>
          <a:solidFill>
            <a:srgbClr val="E9F0DE"/>
          </a:solidFill>
          <a:ln w="12700">
            <a:solidFill>
              <a:srgbClr val="7AA34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238"/>
                </a:solidFill>
              </a:rPr>
              <a:t>Botón · Ver detalle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8915400" y="4343400"/>
            <a:ext cx="24231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39"/>
          <p:cNvSpPr/>
          <p:nvPr/>
        </p:nvSpPr>
        <p:spPr>
          <a:xfrm>
            <a:off x="9052560" y="4453128"/>
            <a:ext cx="2148840" cy="73152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1D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Imagen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</a:rPr>
              <a:t>galeria8.jpg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9052560" y="527608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Título del producto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9052560" y="5532120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</a:rPr>
              <a:t>$ 19.990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9052560" y="5824728"/>
            <a:ext cx="2148840" cy="292608"/>
          </a:xfrm>
          <a:prstGeom prst="rect">
            <a:avLst/>
          </a:prstGeom>
          <a:solidFill>
            <a:srgbClr val="E9F0DE"/>
          </a:solidFill>
          <a:ln w="12700">
            <a:solidFill>
              <a:srgbClr val="7AA34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238"/>
                </a:solidFill>
              </a:rPr>
              <a:t>Botón · Ver detalle</a:t>
            </a:r>
            <a:endParaRPr lang="en-US" sz="12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30352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</a:rPr>
              <a:t>7. Detalle de publicación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950976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3"/>
                </a:solidFill>
              </a:rPr>
              <a:t>Vista privada dividida en dos columnas: imágenes y detalle del producto.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8680" y="1554480"/>
            <a:ext cx="516636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AA34B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63238"/>
                </a:solidFill>
              </a:rPr>
              <a:t>Imágenes de la publicación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263238"/>
                </a:solidFill>
              </a:rPr>
              <a:t>img_detalle_1.jpg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263238"/>
                </a:solidFill>
              </a:rPr>
              <a:t>img_detalle_2.jpg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263238"/>
                </a:solidFill>
              </a:rPr>
              <a:t>img_detalle_3.jpg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355080" y="1554480"/>
            <a:ext cx="493776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29400" y="182880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238"/>
                </a:solidFill>
              </a:rPr>
              <a:t>Título del producto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629400" y="22402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A34B"/>
                </a:solidFill>
              </a:rPr>
              <a:t>$ 19.990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629400" y="26974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B73"/>
                </a:solidFill>
              </a:rPr>
              <a:t>Descripción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F6B73"/>
                </a:solidFill>
              </a:rPr>
              <a:t>Lorem ipsum de ejemplo para explicar características del producto.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29400" y="3703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</a:rPr>
              <a:t>Ubicación · Santiago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</a:rPr>
              <a:t>Vendedor · Usuario Ejemplo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29400" y="4663440"/>
            <a:ext cx="1874520" cy="438912"/>
          </a:xfrm>
          <a:prstGeom prst="rect">
            <a:avLst/>
          </a:prstGeom>
          <a:solidFill>
            <a:srgbClr val="E9F0DE"/>
          </a:solidFill>
          <a:ln w="15240">
            <a:solidFill>
              <a:srgbClr val="7AA34B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</a:rPr>
              <a:t>Contactar vendedor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823960" y="4663440"/>
            <a:ext cx="18745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</a:rPr>
              <a:t>Agregar a favoritos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30352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</a:rPr>
              <a:t>8. Navegación entre vistas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950976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3"/>
                </a:solidFill>
              </a:rPr>
              <a:t>Separación clara entre sección pública y sección privada.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05840" y="1463040"/>
            <a:ext cx="2194560" cy="384048"/>
          </a:xfrm>
          <a:prstGeom prst="rect">
            <a:avLst/>
          </a:prstGeom>
          <a:solidFill>
            <a:srgbClr val="E9F0DE"/>
          </a:solidFill>
          <a:ln w="13970">
            <a:solidFill>
              <a:srgbClr val="7AA34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</a:rPr>
              <a:t>Sección pública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68680" y="2011680"/>
            <a:ext cx="4389120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3000" y="224028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F6B73"/>
                </a:solidFill>
              </a:rPr>
              <a:t>Acceso libre sin login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2697480"/>
            <a:ext cx="3474720" cy="502920"/>
          </a:xfrm>
          <a:prstGeom prst="rect">
            <a:avLst/>
          </a:prstGeom>
          <a:solidFill>
            <a:srgbClr val="EEF3E7"/>
          </a:solidFill>
          <a:ln w="15240">
            <a:solidFill>
              <a:srgbClr val="7AA34B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Página principal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5880" y="3566160"/>
            <a:ext cx="15087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63238"/>
                </a:solidFill>
              </a:rPr>
              <a:t>Registro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91840" y="3566160"/>
            <a:ext cx="15087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63238"/>
                </a:solidFill>
              </a:rPr>
              <a:t>Login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443484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238"/>
                </a:solidFill>
              </a:rPr>
              <a:t>Desde la página principal se puede ir a registro o inicio de sesión.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0" y="1463040"/>
            <a:ext cx="2194560" cy="384048"/>
          </a:xfrm>
          <a:prstGeom prst="rect">
            <a:avLst/>
          </a:prstGeom>
          <a:solidFill>
            <a:srgbClr val="E9F0DE"/>
          </a:solidFill>
          <a:ln w="13970">
            <a:solidFill>
              <a:srgbClr val="7AA34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238"/>
                </a:solidFill>
              </a:rPr>
              <a:t>Sección privada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2011680"/>
            <a:ext cx="4754880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20840" y="224028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F6B73"/>
                </a:solidFill>
              </a:rPr>
              <a:t>Acceso solo con sesión iniciada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18120" y="2697480"/>
            <a:ext cx="1920240" cy="502920"/>
          </a:xfrm>
          <a:prstGeom prst="rect">
            <a:avLst/>
          </a:prstGeom>
          <a:solidFill>
            <a:srgbClr val="EEF3E7"/>
          </a:solidFill>
          <a:ln w="15240">
            <a:solidFill>
              <a:srgbClr val="7AA34B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Mi perfil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812280" y="3611880"/>
            <a:ext cx="18288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63238"/>
                </a:solidFill>
              </a:rPr>
              <a:t>Galería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823960" y="3611880"/>
            <a:ext cx="18288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63238"/>
                </a:solidFill>
              </a:rPr>
              <a:t>Crear publicación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12280" y="4480560"/>
            <a:ext cx="18288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63238"/>
                </a:solidFill>
              </a:rPr>
              <a:t>Detalle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823960" y="4480560"/>
            <a:ext cx="18288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63238"/>
                </a:solidFill>
              </a:rPr>
              <a:t>Favoritos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20840" y="519379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3238"/>
                </a:solidFill>
              </a:rPr>
              <a:t>Desde Mi perfil el usuario navega a sus vistas privadas y gestiona sus publicaciones.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30352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</a:rPr>
              <a:t>9. Dependencias del proyecto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950976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3"/>
                </a:solidFill>
              </a:rPr>
              <a:t>Stack sugerido para frontend, backend y base de datos.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2400" y="1417320"/>
            <a:ext cx="2859741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93361" y="1417320"/>
            <a:ext cx="34747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52260" y="1417320"/>
            <a:ext cx="2187388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" y="16916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AA34B"/>
                </a:solidFill>
              </a:rPr>
              <a:t>Frontend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2400" y="2282593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react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react-dom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react-router-dom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axios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bootstrap o tailwindcss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context api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367681" y="16733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AA34B"/>
                </a:solidFill>
              </a:rPr>
              <a:t>Backend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341325" y="2231136"/>
            <a:ext cx="3338098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Express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PostgreSQL</a:t>
            </a:r>
            <a:br>
              <a:rPr lang="es-CL" sz="1600" dirty="0"/>
            </a:br>
            <a:r>
              <a:rPr lang="es-CL" sz="1600" dirty="0" err="1"/>
              <a:t>pg</a:t>
            </a:r>
            <a:r>
              <a:rPr lang="es-CL" sz="1600" dirty="0"/>
              <a:t> (conexión a base de datos)</a:t>
            </a:r>
            <a:br>
              <a:rPr lang="es-CL" sz="1600" dirty="0"/>
            </a:br>
            <a:r>
              <a:rPr lang="es-CL" sz="1600" dirty="0" err="1"/>
              <a:t>cors</a:t>
            </a:r>
            <a:r>
              <a:rPr lang="es-CL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 err="1"/>
              <a:t>Dotenv</a:t>
            </a:r>
            <a:endParaRPr lang="es-CL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 err="1"/>
              <a:t>bcrypt</a:t>
            </a:r>
            <a:r>
              <a:rPr lang="es-CL" sz="1600" dirty="0"/>
              <a:t> (encriptación de contraseñas)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 err="1"/>
              <a:t>jsonwebtoken</a:t>
            </a:r>
            <a:r>
              <a:rPr lang="es-CL" sz="1600" dirty="0"/>
              <a:t> (autenticación)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 err="1"/>
              <a:t>multer</a:t>
            </a:r>
            <a:r>
              <a:rPr lang="es-CL" sz="1600" dirty="0"/>
              <a:t> (subida de imágenes)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17920" y="16733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AA34B"/>
                </a:solidFill>
              </a:rPr>
              <a:t>DB · utilidades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79423" y="2324727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postgresql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postman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vscode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draw.io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google slides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05840" y="5806440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F6B73"/>
                </a:solidFill>
              </a:rPr>
              <a:t>Estas dependencias cumplen con el tipo de aplicación exigida: frontend React, API REST con Express y base de datos PostgreSQL.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913E1530-4E56-C32A-F634-8C8CE8C1F409}"/>
              </a:ext>
            </a:extLst>
          </p:cNvPr>
          <p:cNvSpPr/>
          <p:nvPr/>
        </p:nvSpPr>
        <p:spPr>
          <a:xfrm>
            <a:off x="8956189" y="1399032"/>
            <a:ext cx="264414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Visual Studio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 err="1"/>
              <a:t>Postman</a:t>
            </a:r>
            <a:endParaRPr lang="es-CL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Git /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Draw.io (modelo 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Google </a:t>
            </a:r>
            <a:r>
              <a:rPr lang="es-CL" sz="1600" dirty="0" err="1"/>
              <a:t>Slides</a:t>
            </a:r>
            <a:r>
              <a:rPr lang="es-CL" sz="1600" dirty="0"/>
              <a:t> (mockups)</a:t>
            </a:r>
            <a:endParaRPr lang="en-US" sz="16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9D9BA994-45F7-857D-FCBB-7C24B95634EB}"/>
              </a:ext>
            </a:extLst>
          </p:cNvPr>
          <p:cNvSpPr/>
          <p:nvPr/>
        </p:nvSpPr>
        <p:spPr>
          <a:xfrm>
            <a:off x="8823960" y="1700425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AA34B"/>
                </a:solidFill>
              </a:rPr>
              <a:t>Herramientas de desarrollo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30352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</a:rPr>
              <a:t>10. Contrato de API REST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950976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3"/>
                </a:solidFill>
              </a:rPr>
              <a:t>Endpoints mínimos para autenticación, publicaciones y favoritos.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31520" y="1417320"/>
            <a:ext cx="10972800" cy="4892040"/>
          </a:xfrm>
          <a:prstGeom prst="rect">
            <a:avLst/>
          </a:prstGeom>
          <a:solidFill>
            <a:srgbClr val="111827"/>
          </a:solidFill>
          <a:ln w="15240">
            <a:solidFill>
              <a:srgbClr val="111827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48958" y="1592489"/>
            <a:ext cx="10469880" cy="440740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/api/users/register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{ name, email, password, avatar_url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{ id, name, email, avatar_url, token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/api/users/login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{ email, password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{ token, user: { id, name, email, avatar_url }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/api/posts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[ { id, title, price, category, status, location, user_id } 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/api/posts/:id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{ id, title, description, price, category, status, location, images: [], seller: {}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/api/posts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{ title, description, price, category, status, location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{ id, message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/api/posts/:id/images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multipart/form-data { image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{ id, post_id, url, order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/api/favorites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[ { id, post_id, title, price, image_url } 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/api/favorites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{ post_id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{ id, user_id, post_id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/api/favorites/:id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{ message 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8522-14C8-B2DD-E2DF-B00797C1D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AFCEFC-289C-FC06-1419-8BCD367E3846}"/>
              </a:ext>
            </a:extLst>
          </p:cNvPr>
          <p:cNvSpPr/>
          <p:nvPr/>
        </p:nvSpPr>
        <p:spPr>
          <a:xfrm>
            <a:off x="548640" y="530352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</a:rPr>
              <a:t>11. Contrato de API REST</a:t>
            </a:r>
            <a:endParaRPr lang="en-US" sz="28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826383F-C417-8E71-20FC-2975BA57342F}"/>
              </a:ext>
            </a:extLst>
          </p:cNvPr>
          <p:cNvSpPr/>
          <p:nvPr/>
        </p:nvSpPr>
        <p:spPr>
          <a:xfrm>
            <a:off x="548640" y="950976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3"/>
                </a:solidFill>
              </a:rPr>
              <a:t>Endpoints mínimos para autenticación, publicaciones y favoritos.</a:t>
            </a:r>
            <a:endParaRPr lang="en-US" sz="1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9D1FA94-E8BF-C5EC-5AE8-E9DB2213AC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2CFF0C8-7100-DEA0-B97A-592930FAE9BB}"/>
              </a:ext>
            </a:extLst>
          </p:cNvPr>
          <p:cNvSpPr txBox="1"/>
          <p:nvPr/>
        </p:nvSpPr>
        <p:spPr>
          <a:xfrm>
            <a:off x="387723" y="1244657"/>
            <a:ext cx="38705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200" b="1" dirty="0"/>
              <a:t>Registro de usuario</a:t>
            </a:r>
          </a:p>
          <a:p>
            <a:pPr rtl="0">
              <a:buNone/>
            </a:pPr>
            <a:r>
              <a:rPr lang="es-CL" sz="1200" dirty="0">
                <a:latin typeface="Courier New" panose="02070309020205020404" pitchFamily="49" charset="0"/>
              </a:rPr>
              <a:t>POST /api/</a:t>
            </a:r>
            <a:r>
              <a:rPr lang="es-CL" sz="1200" dirty="0" err="1">
                <a:latin typeface="Courier New" panose="02070309020205020404" pitchFamily="49" charset="0"/>
              </a:rPr>
              <a:t>users</a:t>
            </a:r>
            <a:r>
              <a:rPr lang="es-CL" sz="1200" dirty="0">
                <a:latin typeface="Courier New" panose="02070309020205020404" pitchFamily="49" charset="0"/>
              </a:rPr>
              <a:t>/</a:t>
            </a:r>
            <a:r>
              <a:rPr lang="es-CL" sz="1200" dirty="0" err="1">
                <a:latin typeface="Courier New" panose="02070309020205020404" pitchFamily="49" charset="0"/>
              </a:rPr>
              <a:t>register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 err="1">
                <a:latin typeface="Courier New" panose="02070309020205020404" pitchFamily="49" charset="0"/>
              </a:rPr>
              <a:t>Request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{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"</a:t>
            </a:r>
            <a:r>
              <a:rPr lang="es-CL" sz="1200" dirty="0" err="1">
                <a:latin typeface="Courier New" panose="02070309020205020404" pitchFamily="49" charset="0"/>
              </a:rPr>
              <a:t>name</a:t>
            </a:r>
            <a:r>
              <a:rPr lang="es-CL" sz="1200" dirty="0">
                <a:latin typeface="Courier New" panose="02070309020205020404" pitchFamily="49" charset="0"/>
              </a:rPr>
              <a:t>": "Juan </a:t>
            </a:r>
            <a:r>
              <a:rPr lang="es-CL" sz="1200" dirty="0" err="1">
                <a:latin typeface="Courier New" panose="02070309020205020404" pitchFamily="49" charset="0"/>
              </a:rPr>
              <a:t>Perez</a:t>
            </a:r>
            <a:r>
              <a:rPr lang="es-CL" sz="1200" dirty="0">
                <a:latin typeface="Courier New" panose="02070309020205020404" pitchFamily="49" charset="0"/>
              </a:rPr>
              <a:t>",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"email": "juan@email.com",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"</a:t>
            </a:r>
            <a:r>
              <a:rPr lang="es-CL" sz="1200" dirty="0" err="1">
                <a:latin typeface="Courier New" panose="02070309020205020404" pitchFamily="49" charset="0"/>
              </a:rPr>
              <a:t>password</a:t>
            </a:r>
            <a:r>
              <a:rPr lang="es-CL" sz="1200" dirty="0">
                <a:latin typeface="Courier New" panose="02070309020205020404" pitchFamily="49" charset="0"/>
              </a:rPr>
              <a:t>": "123456"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}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Response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{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"id": 1,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"</a:t>
            </a:r>
            <a:r>
              <a:rPr lang="es-CL" sz="1200" dirty="0" err="1">
                <a:latin typeface="Courier New" panose="02070309020205020404" pitchFamily="49" charset="0"/>
              </a:rPr>
              <a:t>name</a:t>
            </a:r>
            <a:r>
              <a:rPr lang="es-CL" sz="1200" dirty="0">
                <a:latin typeface="Courier New" panose="02070309020205020404" pitchFamily="49" charset="0"/>
              </a:rPr>
              <a:t>": "Juan </a:t>
            </a:r>
            <a:r>
              <a:rPr lang="es-CL" sz="1200" dirty="0" err="1">
                <a:latin typeface="Courier New" panose="02070309020205020404" pitchFamily="49" charset="0"/>
              </a:rPr>
              <a:t>Perez</a:t>
            </a:r>
            <a:r>
              <a:rPr lang="es-CL" sz="1200" dirty="0">
                <a:latin typeface="Courier New" panose="02070309020205020404" pitchFamily="49" charset="0"/>
              </a:rPr>
              <a:t>",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"email": "juan@email.com"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0E16E3B-80D9-05E7-5331-6066449D6BD4}"/>
              </a:ext>
            </a:extLst>
          </p:cNvPr>
          <p:cNvSpPr txBox="1"/>
          <p:nvPr/>
        </p:nvSpPr>
        <p:spPr>
          <a:xfrm>
            <a:off x="3776382" y="1153626"/>
            <a:ext cx="309954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200" b="1" dirty="0"/>
              <a:t>Login</a:t>
            </a:r>
          </a:p>
          <a:p>
            <a:pPr rtl="0">
              <a:buNone/>
            </a:pPr>
            <a:r>
              <a:rPr lang="es-CL" sz="1200" dirty="0">
                <a:latin typeface="Courier New" panose="02070309020205020404" pitchFamily="49" charset="0"/>
              </a:rPr>
              <a:t>POST /api/</a:t>
            </a:r>
            <a:r>
              <a:rPr lang="es-CL" sz="1200" dirty="0" err="1">
                <a:latin typeface="Courier New" panose="02070309020205020404" pitchFamily="49" charset="0"/>
              </a:rPr>
              <a:t>users</a:t>
            </a:r>
            <a:r>
              <a:rPr lang="es-CL" sz="1200" dirty="0">
                <a:latin typeface="Courier New" panose="02070309020205020404" pitchFamily="49" charset="0"/>
              </a:rPr>
              <a:t>/login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 err="1">
                <a:latin typeface="Courier New" panose="02070309020205020404" pitchFamily="49" charset="0"/>
              </a:rPr>
              <a:t>Request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{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"email": "juan@email.com",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"</a:t>
            </a:r>
            <a:r>
              <a:rPr lang="es-CL" sz="1200" dirty="0" err="1">
                <a:latin typeface="Courier New" panose="02070309020205020404" pitchFamily="49" charset="0"/>
              </a:rPr>
              <a:t>password</a:t>
            </a:r>
            <a:r>
              <a:rPr lang="es-CL" sz="1200" dirty="0">
                <a:latin typeface="Courier New" panose="02070309020205020404" pitchFamily="49" charset="0"/>
              </a:rPr>
              <a:t>": "123456"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}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Response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{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"token": "JWT_TOKEN",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"</a:t>
            </a:r>
            <a:r>
              <a:rPr lang="es-CL" sz="1200" dirty="0" err="1">
                <a:latin typeface="Courier New" panose="02070309020205020404" pitchFamily="49" charset="0"/>
              </a:rPr>
              <a:t>user</a:t>
            </a:r>
            <a:r>
              <a:rPr lang="es-CL" sz="1200" dirty="0">
                <a:latin typeface="Courier New" panose="02070309020205020404" pitchFamily="49" charset="0"/>
              </a:rPr>
              <a:t>": {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   "id": 1,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   "</a:t>
            </a:r>
            <a:r>
              <a:rPr lang="es-CL" sz="1200" dirty="0" err="1">
                <a:latin typeface="Courier New" panose="02070309020205020404" pitchFamily="49" charset="0"/>
              </a:rPr>
              <a:t>name</a:t>
            </a:r>
            <a:r>
              <a:rPr lang="es-CL" sz="1200" dirty="0">
                <a:latin typeface="Courier New" panose="02070309020205020404" pitchFamily="49" charset="0"/>
              </a:rPr>
              <a:t>": "Juan </a:t>
            </a:r>
            <a:r>
              <a:rPr lang="es-CL" sz="1200" dirty="0" err="1">
                <a:latin typeface="Courier New" panose="02070309020205020404" pitchFamily="49" charset="0"/>
              </a:rPr>
              <a:t>Perez</a:t>
            </a:r>
            <a:r>
              <a:rPr lang="es-CL" sz="1200" dirty="0">
                <a:latin typeface="Courier New" panose="02070309020205020404" pitchFamily="49" charset="0"/>
              </a:rPr>
              <a:t>",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   "email": "juan@email.com"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}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4FA8486-E9F7-078F-EB03-AD8743525FE3}"/>
              </a:ext>
            </a:extLst>
          </p:cNvPr>
          <p:cNvSpPr txBox="1"/>
          <p:nvPr/>
        </p:nvSpPr>
        <p:spPr>
          <a:xfrm>
            <a:off x="7711888" y="1244657"/>
            <a:ext cx="309954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200" b="1" dirty="0"/>
              <a:t>Crear publicación</a:t>
            </a:r>
          </a:p>
          <a:p>
            <a:pPr rtl="0">
              <a:buNone/>
            </a:pPr>
            <a:r>
              <a:rPr lang="es-CL" sz="1200" dirty="0">
                <a:latin typeface="Courier New" panose="02070309020205020404" pitchFamily="49" charset="0"/>
              </a:rPr>
              <a:t>POST /api/posts</a:t>
            </a:r>
            <a:br>
              <a:rPr lang="es-CL" sz="1200" dirty="0">
                <a:latin typeface="Courier New" panose="02070309020205020404" pitchFamily="49" charset="0"/>
              </a:rPr>
            </a:b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 err="1">
                <a:latin typeface="Courier New" panose="02070309020205020404" pitchFamily="49" charset="0"/>
              </a:rPr>
              <a:t>Request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{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"</a:t>
            </a:r>
            <a:r>
              <a:rPr lang="es-CL" sz="1200" dirty="0" err="1">
                <a:latin typeface="Courier New" panose="02070309020205020404" pitchFamily="49" charset="0"/>
              </a:rPr>
              <a:t>title</a:t>
            </a:r>
            <a:r>
              <a:rPr lang="es-CL" sz="1200" dirty="0">
                <a:latin typeface="Courier New" panose="02070309020205020404" pitchFamily="49" charset="0"/>
              </a:rPr>
              <a:t>": "Notebook Lenovo",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"</a:t>
            </a:r>
            <a:r>
              <a:rPr lang="es-CL" sz="1200" dirty="0" err="1">
                <a:latin typeface="Courier New" panose="02070309020205020404" pitchFamily="49" charset="0"/>
              </a:rPr>
              <a:t>description</a:t>
            </a:r>
            <a:r>
              <a:rPr lang="es-CL" sz="1200" dirty="0">
                <a:latin typeface="Courier New" panose="02070309020205020404" pitchFamily="49" charset="0"/>
              </a:rPr>
              <a:t>": "Notebook en excelente estado",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"</a:t>
            </a:r>
            <a:r>
              <a:rPr lang="es-CL" sz="1200" dirty="0" err="1">
                <a:latin typeface="Courier New" panose="02070309020205020404" pitchFamily="49" charset="0"/>
              </a:rPr>
              <a:t>price</a:t>
            </a:r>
            <a:r>
              <a:rPr lang="es-CL" sz="1200" dirty="0">
                <a:latin typeface="Courier New" panose="02070309020205020404" pitchFamily="49" charset="0"/>
              </a:rPr>
              <a:t>": 500000,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"</a:t>
            </a:r>
            <a:r>
              <a:rPr lang="es-CL" sz="1200" dirty="0" err="1">
                <a:latin typeface="Courier New" panose="02070309020205020404" pitchFamily="49" charset="0"/>
              </a:rPr>
              <a:t>category</a:t>
            </a:r>
            <a:r>
              <a:rPr lang="es-CL" sz="1200" dirty="0">
                <a:latin typeface="Courier New" panose="02070309020205020404" pitchFamily="49" charset="0"/>
              </a:rPr>
              <a:t>": "Tecnología",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"status": "Usado",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"</a:t>
            </a:r>
            <a:r>
              <a:rPr lang="es-CL" sz="1200" dirty="0" err="1">
                <a:latin typeface="Courier New" panose="02070309020205020404" pitchFamily="49" charset="0"/>
              </a:rPr>
              <a:t>location</a:t>
            </a:r>
            <a:r>
              <a:rPr lang="es-CL" sz="1200" dirty="0">
                <a:latin typeface="Courier New" panose="02070309020205020404" pitchFamily="49" charset="0"/>
              </a:rPr>
              <a:t>": "Santiago"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B295AC1-BD0A-4697-514D-471A4F638DDF}"/>
              </a:ext>
            </a:extLst>
          </p:cNvPr>
          <p:cNvSpPr txBox="1"/>
          <p:nvPr/>
        </p:nvSpPr>
        <p:spPr>
          <a:xfrm>
            <a:off x="7711888" y="3875317"/>
            <a:ext cx="2758888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200" b="1" dirty="0"/>
              <a:t>Obtener publicaciones</a:t>
            </a:r>
          </a:p>
          <a:p>
            <a:pPr rtl="0">
              <a:buNone/>
            </a:pPr>
            <a:r>
              <a:rPr lang="es-CL" sz="1200" dirty="0">
                <a:latin typeface="Courier New" panose="02070309020205020404" pitchFamily="49" charset="0"/>
              </a:rPr>
              <a:t>GET /api/posts</a:t>
            </a:r>
            <a:br>
              <a:rPr lang="es-CL" sz="1200" dirty="0">
                <a:latin typeface="Courier New" panose="02070309020205020404" pitchFamily="49" charset="0"/>
              </a:rPr>
            </a:b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Response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[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{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 "id":1,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 "</a:t>
            </a:r>
            <a:r>
              <a:rPr lang="es-CL" sz="1200" dirty="0" err="1">
                <a:latin typeface="Courier New" panose="02070309020205020404" pitchFamily="49" charset="0"/>
              </a:rPr>
              <a:t>title</a:t>
            </a:r>
            <a:r>
              <a:rPr lang="es-CL" sz="1200" dirty="0">
                <a:latin typeface="Courier New" panose="02070309020205020404" pitchFamily="49" charset="0"/>
              </a:rPr>
              <a:t>":"Notebook Lenovo",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 "price":500000,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  "</a:t>
            </a:r>
            <a:r>
              <a:rPr lang="es-CL" sz="1200" dirty="0" err="1">
                <a:latin typeface="Courier New" panose="02070309020205020404" pitchFamily="49" charset="0"/>
              </a:rPr>
              <a:t>location</a:t>
            </a:r>
            <a:r>
              <a:rPr lang="es-CL" sz="1200" dirty="0">
                <a:latin typeface="Courier New" panose="02070309020205020404" pitchFamily="49" charset="0"/>
              </a:rPr>
              <a:t>":"Santiago"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 }</a:t>
            </a:r>
            <a:br>
              <a:rPr lang="es-CL" sz="1200" dirty="0">
                <a:latin typeface="Courier New" panose="02070309020205020404" pitchFamily="49" charset="0"/>
              </a:rPr>
            </a:br>
            <a:r>
              <a:rPr lang="es-CL" sz="1200" dirty="0">
                <a:latin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0111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30352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238"/>
                </a:solidFill>
              </a:rPr>
              <a:t>12. Modelo de base de datos (ER)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950976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73"/>
                </a:solidFill>
              </a:rPr>
              <a:t>Relaciones principales entre usuarios, publicaciones, imágenes y favoritos.</a:t>
            </a:r>
            <a:endParaRPr lang="en-US" sz="1200" dirty="0"/>
          </a:p>
        </p:txBody>
      </p:sp>
      <p:pic>
        <p:nvPicPr>
          <p:cNvPr id="5" name="Image 0" descr="/mnt/data/diagrama_ER_marketpl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6720840" cy="4983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35240" y="1600200"/>
            <a:ext cx="393192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5B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863840" y="182880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7AA34B"/>
                </a:solidFill>
              </a:rPr>
              <a:t>Entidades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7955280" y="224028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users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posts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post_images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favorites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Relaciones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users (1) — (N) posts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posts (1) — (N) post_images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users (1) — (N) favorites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posts (1) — (N) favorites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9DC95-6AAD-CF4C-61F5-1228EB11A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E54C597-725E-7140-3CF4-433C25792830}"/>
              </a:ext>
            </a:extLst>
          </p:cNvPr>
          <p:cNvSpPr/>
          <p:nvPr/>
        </p:nvSpPr>
        <p:spPr>
          <a:xfrm>
            <a:off x="548640" y="530352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63238"/>
                </a:solidFill>
              </a:rPr>
              <a:t>13. </a:t>
            </a:r>
            <a:r>
              <a:rPr lang="es-CL" sz="2800" b="1" dirty="0"/>
              <a:t>Arquitectura del sistema</a:t>
            </a:r>
            <a:endParaRPr lang="en-US" sz="2800" b="1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1256FD0-22E0-811F-2354-0123C44446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8E6857-DF57-05EC-4B05-7FC1D990ED79}"/>
              </a:ext>
            </a:extLst>
          </p:cNvPr>
          <p:cNvSpPr txBox="1"/>
          <p:nvPr/>
        </p:nvSpPr>
        <p:spPr>
          <a:xfrm>
            <a:off x="548640" y="863224"/>
            <a:ext cx="6100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Título:</a:t>
            </a:r>
            <a:br>
              <a:rPr lang="pt-BR" dirty="0"/>
            </a:br>
            <a:r>
              <a:rPr lang="pt-BR" dirty="0"/>
              <a:t>Arquitectura del sistema Marketplace</a:t>
            </a:r>
            <a:endParaRPr lang="es-C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E768D44-90AB-0052-3C0E-31C88E339228}"/>
              </a:ext>
            </a:extLst>
          </p:cNvPr>
          <p:cNvSpPr txBox="1"/>
          <p:nvPr/>
        </p:nvSpPr>
        <p:spPr>
          <a:xfrm>
            <a:off x="5649558" y="259080"/>
            <a:ext cx="610048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/>
              <a:t>USUARIO</a:t>
            </a:r>
          </a:p>
          <a:p>
            <a:r>
              <a:rPr lang="es-CL" sz="1200" dirty="0"/>
              <a:t>   │</a:t>
            </a:r>
          </a:p>
          <a:p>
            <a:r>
              <a:rPr lang="es-CL" sz="1200" dirty="0"/>
              <a:t>   │ Navegador web</a:t>
            </a:r>
          </a:p>
          <a:p>
            <a:r>
              <a:rPr lang="es-CL" sz="1200" dirty="0"/>
              <a:t>   ▼</a:t>
            </a:r>
          </a:p>
          <a:p>
            <a:endParaRPr lang="es-CL" sz="1200" dirty="0"/>
          </a:p>
          <a:p>
            <a:r>
              <a:rPr lang="es-CL" sz="1200" dirty="0"/>
              <a:t>FRONTEND (</a:t>
            </a:r>
            <a:r>
              <a:rPr lang="es-CL" sz="1200" dirty="0" err="1"/>
              <a:t>React</a:t>
            </a:r>
            <a:r>
              <a:rPr lang="es-CL" sz="1200" dirty="0"/>
              <a:t>)</a:t>
            </a:r>
          </a:p>
          <a:p>
            <a:r>
              <a:rPr lang="es-CL" sz="1200" dirty="0"/>
              <a:t>- </a:t>
            </a:r>
            <a:r>
              <a:rPr lang="es-CL" sz="1200" dirty="0" err="1"/>
              <a:t>React</a:t>
            </a:r>
            <a:endParaRPr lang="es-CL" sz="1200" dirty="0"/>
          </a:p>
          <a:p>
            <a:r>
              <a:rPr lang="es-CL" sz="1200" dirty="0"/>
              <a:t>- </a:t>
            </a:r>
            <a:r>
              <a:rPr lang="es-CL" sz="1200" dirty="0" err="1"/>
              <a:t>React</a:t>
            </a:r>
            <a:r>
              <a:rPr lang="es-CL" sz="1200" dirty="0"/>
              <a:t> </a:t>
            </a:r>
            <a:r>
              <a:rPr lang="es-CL" sz="1200" dirty="0" err="1"/>
              <a:t>Router</a:t>
            </a:r>
            <a:endParaRPr lang="es-CL" sz="1200" dirty="0"/>
          </a:p>
          <a:p>
            <a:r>
              <a:rPr lang="es-CL" sz="1200" dirty="0"/>
              <a:t>- Axios</a:t>
            </a:r>
          </a:p>
          <a:p>
            <a:r>
              <a:rPr lang="es-CL" sz="1200" dirty="0"/>
              <a:t>- Bootstrap / </a:t>
            </a:r>
            <a:r>
              <a:rPr lang="es-CL" sz="1200" dirty="0" err="1"/>
              <a:t>Tailwind</a:t>
            </a:r>
            <a:endParaRPr lang="es-CL" sz="1200" dirty="0"/>
          </a:p>
          <a:p>
            <a:endParaRPr lang="es-CL" sz="1200" dirty="0"/>
          </a:p>
          <a:p>
            <a:r>
              <a:rPr lang="es-CL" sz="1200" dirty="0"/>
              <a:t>   │</a:t>
            </a:r>
          </a:p>
          <a:p>
            <a:r>
              <a:rPr lang="es-CL" sz="1200" dirty="0"/>
              <a:t>   │ HTTP / REST API</a:t>
            </a:r>
          </a:p>
          <a:p>
            <a:r>
              <a:rPr lang="es-CL" sz="1200" dirty="0"/>
              <a:t>   ▼</a:t>
            </a:r>
          </a:p>
          <a:p>
            <a:endParaRPr lang="es-CL" sz="1200" dirty="0"/>
          </a:p>
          <a:p>
            <a:r>
              <a:rPr lang="es-CL" sz="1200" dirty="0"/>
              <a:t>BACKEND (Node.js + Express)</a:t>
            </a:r>
          </a:p>
          <a:p>
            <a:r>
              <a:rPr lang="es-CL" sz="1200" dirty="0"/>
              <a:t>- Express</a:t>
            </a:r>
          </a:p>
          <a:p>
            <a:r>
              <a:rPr lang="es-CL" sz="1200" dirty="0"/>
              <a:t>- Autenticación JWT</a:t>
            </a:r>
          </a:p>
          <a:p>
            <a:r>
              <a:rPr lang="es-CL" sz="1200" dirty="0"/>
              <a:t>- API REST</a:t>
            </a:r>
          </a:p>
          <a:p>
            <a:r>
              <a:rPr lang="es-CL" sz="1200" dirty="0"/>
              <a:t>- Validación de datos</a:t>
            </a:r>
          </a:p>
          <a:p>
            <a:endParaRPr lang="es-CL" sz="1200" dirty="0"/>
          </a:p>
          <a:p>
            <a:r>
              <a:rPr lang="es-CL" sz="1200" dirty="0"/>
              <a:t>   │</a:t>
            </a:r>
          </a:p>
          <a:p>
            <a:r>
              <a:rPr lang="es-CL" sz="1200" dirty="0"/>
              <a:t>   │ Conexión con </a:t>
            </a:r>
            <a:r>
              <a:rPr lang="es-CL" sz="1200" dirty="0" err="1"/>
              <a:t>pg</a:t>
            </a:r>
            <a:endParaRPr lang="es-CL" sz="1200" dirty="0"/>
          </a:p>
          <a:p>
            <a:r>
              <a:rPr lang="es-CL" sz="1200" dirty="0"/>
              <a:t>   ▼</a:t>
            </a:r>
          </a:p>
          <a:p>
            <a:endParaRPr lang="es-CL" sz="1200" dirty="0"/>
          </a:p>
          <a:p>
            <a:r>
              <a:rPr lang="es-CL" sz="1200" dirty="0"/>
              <a:t>BASE DE DATOS</a:t>
            </a:r>
          </a:p>
          <a:p>
            <a:r>
              <a:rPr lang="es-CL" sz="1200" dirty="0"/>
              <a:t>PostgreSQL</a:t>
            </a:r>
          </a:p>
          <a:p>
            <a:endParaRPr lang="es-CL" sz="1200" dirty="0"/>
          </a:p>
          <a:p>
            <a:r>
              <a:rPr lang="es-CL" sz="1200" dirty="0"/>
              <a:t>Tablas:</a:t>
            </a:r>
          </a:p>
          <a:p>
            <a:r>
              <a:rPr lang="es-CL" sz="1200" dirty="0" err="1"/>
              <a:t>users</a:t>
            </a:r>
            <a:endParaRPr lang="es-CL" sz="1200" dirty="0"/>
          </a:p>
          <a:p>
            <a:r>
              <a:rPr lang="es-CL" sz="1200" dirty="0"/>
              <a:t>posts</a:t>
            </a:r>
          </a:p>
          <a:p>
            <a:r>
              <a:rPr lang="es-CL" sz="1200" dirty="0" err="1"/>
              <a:t>post_images</a:t>
            </a:r>
            <a:endParaRPr lang="es-CL" sz="1200" dirty="0"/>
          </a:p>
          <a:p>
            <a:r>
              <a:rPr lang="es-CL" sz="1200" dirty="0"/>
              <a:t>favorites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02CAB4C-7B6F-8914-3366-89A9E2388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80" y="2142714"/>
            <a:ext cx="2789002" cy="251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26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E5521-918A-9480-3607-28225A469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4C650F6-5C69-77E1-B112-474C2D698E0B}"/>
              </a:ext>
            </a:extLst>
          </p:cNvPr>
          <p:cNvSpPr/>
          <p:nvPr/>
        </p:nvSpPr>
        <p:spPr>
          <a:xfrm>
            <a:off x="548640" y="530352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63238"/>
                </a:solidFill>
              </a:rPr>
              <a:t>14. </a:t>
            </a:r>
            <a:r>
              <a:rPr lang="es-CL" sz="2800" b="1" dirty="0"/>
              <a:t>Estructura del proyecto</a:t>
            </a:r>
            <a:endParaRPr lang="en-US" sz="2800" b="1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E0B6354-0BBA-ED2D-591A-8C4A7995A9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61E10BF-A5C4-86AE-2DF2-B4DDC1999929}"/>
              </a:ext>
            </a:extLst>
          </p:cNvPr>
          <p:cNvSpPr txBox="1"/>
          <p:nvPr/>
        </p:nvSpPr>
        <p:spPr>
          <a:xfrm>
            <a:off x="548640" y="863224"/>
            <a:ext cx="6100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Título:</a:t>
            </a:r>
            <a:br>
              <a:rPr lang="es-MX" dirty="0"/>
            </a:br>
            <a:r>
              <a:rPr lang="es-MX" dirty="0"/>
              <a:t>Estructura de carpetas del proyecto</a:t>
            </a:r>
            <a:endParaRPr lang="es-C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A2E3AF3-D0F9-0436-116B-BAF4CF11A4B9}"/>
              </a:ext>
            </a:extLst>
          </p:cNvPr>
          <p:cNvSpPr txBox="1"/>
          <p:nvPr/>
        </p:nvSpPr>
        <p:spPr>
          <a:xfrm>
            <a:off x="723451" y="1313718"/>
            <a:ext cx="4780878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 err="1"/>
              <a:t>marketplace-project</a:t>
            </a:r>
            <a:endParaRPr lang="es-CL" sz="1200" dirty="0"/>
          </a:p>
          <a:p>
            <a:r>
              <a:rPr lang="es-CL" sz="1200" dirty="0"/>
              <a:t>│</a:t>
            </a:r>
          </a:p>
          <a:p>
            <a:r>
              <a:rPr lang="es-CL" sz="1200" dirty="0"/>
              <a:t>├── frontend</a:t>
            </a:r>
          </a:p>
          <a:p>
            <a:r>
              <a:rPr lang="es-CL" sz="1200" dirty="0"/>
              <a:t>│   ├── </a:t>
            </a:r>
            <a:r>
              <a:rPr lang="es-CL" sz="1200" dirty="0" err="1"/>
              <a:t>public</a:t>
            </a:r>
            <a:endParaRPr lang="es-CL" sz="1200" dirty="0"/>
          </a:p>
          <a:p>
            <a:r>
              <a:rPr lang="es-CL" sz="1200" dirty="0"/>
              <a:t>│   ├── </a:t>
            </a:r>
            <a:r>
              <a:rPr lang="es-CL" sz="1200" dirty="0" err="1"/>
              <a:t>src</a:t>
            </a:r>
            <a:endParaRPr lang="es-CL" sz="1200" dirty="0"/>
          </a:p>
          <a:p>
            <a:r>
              <a:rPr lang="es-CL" sz="1200" dirty="0"/>
              <a:t>│   │   ├── </a:t>
            </a:r>
            <a:r>
              <a:rPr lang="es-CL" sz="1200" dirty="0" err="1"/>
              <a:t>components</a:t>
            </a:r>
            <a:endParaRPr lang="es-CL" sz="1200" dirty="0"/>
          </a:p>
          <a:p>
            <a:r>
              <a:rPr lang="es-CL" sz="1200" dirty="0"/>
              <a:t>│   │   │   ├── </a:t>
            </a:r>
            <a:r>
              <a:rPr lang="es-CL" sz="1200" dirty="0" err="1"/>
              <a:t>Navbar.jsx</a:t>
            </a:r>
            <a:endParaRPr lang="es-CL" sz="1200" dirty="0"/>
          </a:p>
          <a:p>
            <a:r>
              <a:rPr lang="es-CL" sz="1200" dirty="0"/>
              <a:t>│   │   │   ├── </a:t>
            </a:r>
            <a:r>
              <a:rPr lang="es-CL" sz="1200" dirty="0" err="1"/>
              <a:t>ProductCard.jsx</a:t>
            </a:r>
            <a:endParaRPr lang="es-CL" sz="1200" dirty="0"/>
          </a:p>
          <a:p>
            <a:r>
              <a:rPr lang="es-CL" sz="1200" dirty="0"/>
              <a:t>│   │   │   └── </a:t>
            </a:r>
            <a:r>
              <a:rPr lang="es-CL" sz="1200" dirty="0" err="1"/>
              <a:t>Footer.jsx</a:t>
            </a:r>
            <a:endParaRPr lang="es-CL" sz="1200" dirty="0"/>
          </a:p>
          <a:p>
            <a:r>
              <a:rPr lang="es-CL" sz="1200" dirty="0"/>
              <a:t>│   │   │</a:t>
            </a:r>
          </a:p>
          <a:p>
            <a:r>
              <a:rPr lang="es-CL" sz="1200" dirty="0"/>
              <a:t>│   │   ├── </a:t>
            </a:r>
            <a:r>
              <a:rPr lang="es-CL" sz="1200" dirty="0" err="1"/>
              <a:t>pages</a:t>
            </a:r>
            <a:endParaRPr lang="es-CL" sz="1200" dirty="0"/>
          </a:p>
          <a:p>
            <a:r>
              <a:rPr lang="es-CL" sz="1200" dirty="0"/>
              <a:t>│   │   │   ├── </a:t>
            </a:r>
            <a:r>
              <a:rPr lang="es-CL" sz="1200" dirty="0" err="1"/>
              <a:t>Home.jsx</a:t>
            </a:r>
            <a:endParaRPr lang="es-CL" sz="1200" dirty="0"/>
          </a:p>
          <a:p>
            <a:r>
              <a:rPr lang="es-CL" sz="1200" dirty="0"/>
              <a:t>│   │   │   ├── </a:t>
            </a:r>
            <a:r>
              <a:rPr lang="es-CL" sz="1200" dirty="0" err="1"/>
              <a:t>Login.jsx</a:t>
            </a:r>
            <a:endParaRPr lang="es-CL" sz="1200" dirty="0"/>
          </a:p>
          <a:p>
            <a:r>
              <a:rPr lang="es-CL" sz="1200" dirty="0"/>
              <a:t>│   │   │   ├── </a:t>
            </a:r>
            <a:r>
              <a:rPr lang="es-CL" sz="1200" dirty="0" err="1"/>
              <a:t>Register.jsx</a:t>
            </a:r>
            <a:endParaRPr lang="es-CL" sz="1200" dirty="0"/>
          </a:p>
          <a:p>
            <a:r>
              <a:rPr lang="es-CL" sz="1200" dirty="0"/>
              <a:t>│   │   │   ├── </a:t>
            </a:r>
            <a:r>
              <a:rPr lang="es-CL" sz="1200" dirty="0" err="1"/>
              <a:t>Profile.jsx</a:t>
            </a:r>
            <a:endParaRPr lang="es-CL" sz="1200" dirty="0"/>
          </a:p>
          <a:p>
            <a:r>
              <a:rPr lang="es-CL" sz="1200" dirty="0"/>
              <a:t>│   │   │   ├── </a:t>
            </a:r>
            <a:r>
              <a:rPr lang="es-CL" sz="1200" dirty="0" err="1"/>
              <a:t>CreatePost.jsx</a:t>
            </a:r>
            <a:endParaRPr lang="es-CL" sz="1200" dirty="0"/>
          </a:p>
          <a:p>
            <a:r>
              <a:rPr lang="es-CL" sz="1200" dirty="0"/>
              <a:t>│   │   │   ├── </a:t>
            </a:r>
            <a:r>
              <a:rPr lang="es-CL" sz="1200" dirty="0" err="1"/>
              <a:t>Gallery.jsx</a:t>
            </a:r>
            <a:endParaRPr lang="es-CL" sz="1200" dirty="0"/>
          </a:p>
          <a:p>
            <a:r>
              <a:rPr lang="es-CL" sz="1200" dirty="0"/>
              <a:t>│   │   │   └── </a:t>
            </a:r>
            <a:r>
              <a:rPr lang="es-CL" sz="1200" dirty="0" err="1"/>
              <a:t>PostDetail.jsx</a:t>
            </a:r>
            <a:endParaRPr lang="es-CL" sz="1200" dirty="0"/>
          </a:p>
          <a:p>
            <a:r>
              <a:rPr lang="es-CL" sz="1200" dirty="0"/>
              <a:t>│   │   │</a:t>
            </a:r>
          </a:p>
          <a:p>
            <a:r>
              <a:rPr lang="es-CL" sz="1200" dirty="0"/>
              <a:t>│   │   ├── </a:t>
            </a:r>
            <a:r>
              <a:rPr lang="es-CL" sz="1200" dirty="0" err="1"/>
              <a:t>services</a:t>
            </a:r>
            <a:endParaRPr lang="es-CL" sz="1200" dirty="0"/>
          </a:p>
          <a:p>
            <a:r>
              <a:rPr lang="es-CL" sz="1200" dirty="0"/>
              <a:t>│   │   │   └── api.js</a:t>
            </a:r>
          </a:p>
          <a:p>
            <a:r>
              <a:rPr lang="es-CL" sz="1200" dirty="0"/>
              <a:t>│   │   │</a:t>
            </a:r>
          </a:p>
          <a:p>
            <a:r>
              <a:rPr lang="es-CL" sz="1200" dirty="0"/>
              <a:t>│   │   ├── </a:t>
            </a:r>
            <a:r>
              <a:rPr lang="es-CL" sz="1200" dirty="0" err="1"/>
              <a:t>context</a:t>
            </a:r>
            <a:endParaRPr lang="es-CL" sz="1200" dirty="0"/>
          </a:p>
          <a:p>
            <a:r>
              <a:rPr lang="es-CL" sz="1200" dirty="0"/>
              <a:t>│   │   │   └── </a:t>
            </a:r>
            <a:r>
              <a:rPr lang="es-CL" sz="1200" dirty="0" err="1"/>
              <a:t>AuthContext.jsx</a:t>
            </a:r>
            <a:endParaRPr lang="es-CL" sz="1200" dirty="0"/>
          </a:p>
          <a:p>
            <a:r>
              <a:rPr lang="es-CL" sz="1200" dirty="0"/>
              <a:t>│   │   │</a:t>
            </a:r>
          </a:p>
          <a:p>
            <a:r>
              <a:rPr lang="es-CL" sz="1200" dirty="0"/>
              <a:t>│   │   └── </a:t>
            </a:r>
            <a:r>
              <a:rPr lang="es-CL" sz="1200" dirty="0" err="1"/>
              <a:t>App.jsx</a:t>
            </a:r>
            <a:endParaRPr lang="es-CL" sz="1200" dirty="0"/>
          </a:p>
          <a:p>
            <a:r>
              <a:rPr lang="es-CL" sz="1200" dirty="0"/>
              <a:t>│   │</a:t>
            </a:r>
          </a:p>
          <a:p>
            <a:r>
              <a:rPr lang="es-CL" sz="1200" dirty="0"/>
              <a:t>│   └── </a:t>
            </a:r>
            <a:r>
              <a:rPr lang="es-CL" sz="1200" dirty="0" err="1"/>
              <a:t>package.json</a:t>
            </a:r>
            <a:endParaRPr lang="es-CL" sz="1200" dirty="0"/>
          </a:p>
          <a:p>
            <a:r>
              <a:rPr lang="es-CL" sz="1200" dirty="0"/>
              <a:t>│</a:t>
            </a:r>
          </a:p>
          <a:p>
            <a:endParaRPr lang="es-CL" sz="10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30B6522-0320-FBF8-6BFA-F7DDC340163C}"/>
              </a:ext>
            </a:extLst>
          </p:cNvPr>
          <p:cNvSpPr txBox="1"/>
          <p:nvPr/>
        </p:nvSpPr>
        <p:spPr>
          <a:xfrm>
            <a:off x="6096000" y="1559249"/>
            <a:ext cx="478087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/>
              <a:t>├── backend</a:t>
            </a:r>
          </a:p>
          <a:p>
            <a:r>
              <a:rPr lang="es-CL" sz="1200" dirty="0"/>
              <a:t>│   ├── </a:t>
            </a:r>
            <a:r>
              <a:rPr lang="es-CL" sz="1200" dirty="0" err="1"/>
              <a:t>controllers</a:t>
            </a:r>
            <a:endParaRPr lang="es-CL" sz="1200" dirty="0"/>
          </a:p>
          <a:p>
            <a:r>
              <a:rPr lang="es-CL" sz="1200" dirty="0"/>
              <a:t>│   │   ├── users.controller.js</a:t>
            </a:r>
          </a:p>
          <a:p>
            <a:r>
              <a:rPr lang="es-CL" sz="1200" dirty="0"/>
              <a:t>│   │   └── posts.controller.js</a:t>
            </a:r>
          </a:p>
          <a:p>
            <a:r>
              <a:rPr lang="es-CL" sz="1200" dirty="0"/>
              <a:t>│   │</a:t>
            </a:r>
          </a:p>
          <a:p>
            <a:r>
              <a:rPr lang="es-CL" sz="1200" dirty="0"/>
              <a:t>│   ├── </a:t>
            </a:r>
            <a:r>
              <a:rPr lang="es-CL" sz="1200" dirty="0" err="1"/>
              <a:t>routes</a:t>
            </a:r>
            <a:endParaRPr lang="es-CL" sz="1200" dirty="0"/>
          </a:p>
          <a:p>
            <a:r>
              <a:rPr lang="es-CL" sz="1200" dirty="0"/>
              <a:t>│   │   ├── users.routes.js</a:t>
            </a:r>
          </a:p>
          <a:p>
            <a:r>
              <a:rPr lang="es-CL" sz="1200" dirty="0"/>
              <a:t>│   │   └── posts.routes.js</a:t>
            </a:r>
          </a:p>
          <a:p>
            <a:r>
              <a:rPr lang="es-CL" sz="1200" dirty="0"/>
              <a:t>│   │</a:t>
            </a:r>
          </a:p>
          <a:p>
            <a:r>
              <a:rPr lang="es-CL" sz="1200" dirty="0"/>
              <a:t>│   ├── </a:t>
            </a:r>
            <a:r>
              <a:rPr lang="es-CL" sz="1200" dirty="0" err="1"/>
              <a:t>models</a:t>
            </a:r>
            <a:endParaRPr lang="es-CL" sz="1200" dirty="0"/>
          </a:p>
          <a:p>
            <a:r>
              <a:rPr lang="es-CL" sz="1200" dirty="0"/>
              <a:t>│   │   ├── users.model.js</a:t>
            </a:r>
          </a:p>
          <a:p>
            <a:r>
              <a:rPr lang="es-CL" sz="1200" dirty="0"/>
              <a:t>│   │   └── posts.model.js</a:t>
            </a:r>
          </a:p>
          <a:p>
            <a:r>
              <a:rPr lang="es-CL" sz="1200" dirty="0"/>
              <a:t>│   │</a:t>
            </a:r>
          </a:p>
          <a:p>
            <a:r>
              <a:rPr lang="es-CL" sz="1200" dirty="0"/>
              <a:t>│   ├── </a:t>
            </a:r>
            <a:r>
              <a:rPr lang="es-CL" sz="1200" dirty="0" err="1"/>
              <a:t>db</a:t>
            </a:r>
            <a:endParaRPr lang="es-CL" sz="1200" dirty="0"/>
          </a:p>
          <a:p>
            <a:r>
              <a:rPr lang="es-CL" sz="1200" dirty="0"/>
              <a:t>│   │   └── database.js</a:t>
            </a:r>
          </a:p>
          <a:p>
            <a:r>
              <a:rPr lang="es-CL" sz="1200" dirty="0"/>
              <a:t>│   │</a:t>
            </a:r>
          </a:p>
          <a:p>
            <a:r>
              <a:rPr lang="es-CL" sz="1200" dirty="0"/>
              <a:t>│   ├── middleware</a:t>
            </a:r>
          </a:p>
          <a:p>
            <a:r>
              <a:rPr lang="es-CL" sz="1200" dirty="0"/>
              <a:t>│   │   └── auth.middleware.js</a:t>
            </a:r>
          </a:p>
          <a:p>
            <a:r>
              <a:rPr lang="es-CL" sz="1200" dirty="0"/>
              <a:t>│   │</a:t>
            </a:r>
          </a:p>
          <a:p>
            <a:r>
              <a:rPr lang="es-CL" sz="1200" dirty="0"/>
              <a:t>│   ├── server.js</a:t>
            </a:r>
          </a:p>
          <a:p>
            <a:r>
              <a:rPr lang="es-CL" sz="1200" dirty="0"/>
              <a:t>│   └── </a:t>
            </a:r>
            <a:r>
              <a:rPr lang="es-CL" sz="1200" dirty="0" err="1"/>
              <a:t>package.json</a:t>
            </a:r>
            <a:endParaRPr lang="es-CL" sz="1200" dirty="0"/>
          </a:p>
          <a:p>
            <a:r>
              <a:rPr lang="es-CL" sz="1200" dirty="0"/>
              <a:t>│</a:t>
            </a:r>
          </a:p>
          <a:p>
            <a:r>
              <a:rPr lang="es-CL" sz="1200" dirty="0"/>
              <a:t>└── </a:t>
            </a:r>
            <a:r>
              <a:rPr lang="es-CL" sz="1200" dirty="0" err="1"/>
              <a:t>docs</a:t>
            </a:r>
            <a:endParaRPr lang="es-CL" sz="1200" dirty="0"/>
          </a:p>
          <a:p>
            <a:r>
              <a:rPr lang="es-CL" sz="1200" dirty="0"/>
              <a:t>    ├── mockups_marketplace.pptx</a:t>
            </a:r>
          </a:p>
          <a:p>
            <a:r>
              <a:rPr lang="es-CL" sz="1200" dirty="0"/>
              <a:t>    └── diagrama_ER.png</a:t>
            </a:r>
          </a:p>
        </p:txBody>
      </p:sp>
    </p:spTree>
    <p:extLst>
      <p:ext uri="{BB962C8B-B14F-4D97-AF65-F5344CB8AC3E}">
        <p14:creationId xmlns:p14="http://schemas.microsoft.com/office/powerpoint/2010/main" val="398891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B9588-12D2-6FFD-94D7-5837A03DD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0467484-94D8-73A5-28C6-12CD94204673}"/>
              </a:ext>
            </a:extLst>
          </p:cNvPr>
          <p:cNvSpPr/>
          <p:nvPr/>
        </p:nvSpPr>
        <p:spPr>
          <a:xfrm>
            <a:off x="783515" y="1999487"/>
            <a:ext cx="9830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AA34B"/>
                </a:solidFill>
              </a:rPr>
              <a:t>Proyecto Final Desarrollo Full stack- </a:t>
            </a:r>
          </a:p>
          <a:p>
            <a:pPr marL="0" indent="0" algn="ctr">
              <a:buNone/>
            </a:pPr>
            <a:r>
              <a:rPr lang="en-US" sz="3000" b="1" dirty="0">
                <a:solidFill>
                  <a:srgbClr val="7AA34B"/>
                </a:solidFill>
              </a:rPr>
              <a:t>Marketplace · Hito 1</a:t>
            </a:r>
            <a:endParaRPr lang="en-US" sz="3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0B59F13-D5BA-C2A5-F2B5-A4963EA89171}"/>
              </a:ext>
            </a:extLst>
          </p:cNvPr>
          <p:cNvSpPr/>
          <p:nvPr/>
        </p:nvSpPr>
        <p:spPr>
          <a:xfrm>
            <a:off x="3479202" y="3463066"/>
            <a:ext cx="4572000" cy="914400"/>
          </a:xfrm>
          <a:prstGeom prst="rect">
            <a:avLst/>
          </a:prstGeom>
          <a:solidFill>
            <a:srgbClr val="EEF3E7"/>
          </a:solidFill>
          <a:ln w="15240">
            <a:solidFill>
              <a:srgbClr val="7AA34B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63238"/>
                </a:solidFill>
              </a:rPr>
              <a:t>Muchas</a:t>
            </a:r>
            <a:r>
              <a:rPr lang="en-US" sz="2000" b="1" dirty="0">
                <a:solidFill>
                  <a:srgbClr val="263238"/>
                </a:solidFill>
              </a:rPr>
              <a:t> Gracias</a:t>
            </a:r>
            <a:endParaRPr lang="en-US" sz="2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21EB8C0-3AB0-EE99-2ECD-431D3C3A690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E6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54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2922</Words>
  <Application>Microsoft Office PowerPoint</Application>
  <PresentationFormat>Panorámica</PresentationFormat>
  <Paragraphs>428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Marketplace - Hito 1</dc:title>
  <dc:subject>Mockups Marketplace + Navegación + Dependencias + API + ER</dc:subject>
  <dc:creator>OpenAI</dc:creator>
  <cp:lastModifiedBy>Loreto Barrientos</cp:lastModifiedBy>
  <cp:revision>3</cp:revision>
  <dcterms:created xsi:type="dcterms:W3CDTF">2026-03-11T19:21:10Z</dcterms:created>
  <dcterms:modified xsi:type="dcterms:W3CDTF">2026-03-11T19:53:02Z</dcterms:modified>
</cp:coreProperties>
</file>